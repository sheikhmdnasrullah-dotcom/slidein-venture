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2011680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  <a:latin typeface="Aptos"/>
              </a:rPr>
              <a:t>FINAYA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7008"/>
            <a:ext cx="6949440" cy="6858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111111"/>
                </a:solidFill>
                <a:latin typeface="Aptos"/>
              </a:rPr>
              <a:t>Home Loans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20240"/>
            <a:ext cx="7772400" cy="5029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111111"/>
                </a:solidFill>
                <a:latin typeface="Aptos"/>
              </a:rPr>
              <a:t>A complete digital growth + email campaign system</a:t>
            </a:r>
          </a:p>
        </p:txBody>
      </p:sp>
      <p:sp>
        <p:nvSpPr>
          <p:cNvPr id="5" name="Oval 4"/>
          <p:cNvSpPr/>
          <p:nvPr/>
        </p:nvSpPr>
        <p:spPr>
          <a:xfrm>
            <a:off x="8732520" y="1024128"/>
            <a:ext cx="2057400" cy="2057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9171432" y="1481328"/>
            <a:ext cx="571500" cy="54864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742932" y="1481328"/>
            <a:ext cx="571500" cy="54864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377172" y="1995678"/>
            <a:ext cx="731520" cy="5715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74352" y="2247138"/>
            <a:ext cx="13716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070848" y="3337560"/>
            <a:ext cx="1307592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0" y="3703320"/>
            <a:ext cx="8686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794760"/>
            <a:ext cx="86868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3703320"/>
            <a:ext cx="8686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3794760"/>
            <a:ext cx="86868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3703320"/>
            <a:ext cx="8686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3794760"/>
            <a:ext cx="86868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EMAIL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81160" y="4251960"/>
            <a:ext cx="0" cy="64008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9198864" y="481888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58200" y="5010912"/>
            <a:ext cx="1645920" cy="53035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5148072"/>
            <a:ext cx="1645920" cy="2011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  <a:latin typeface="Aptos"/>
              </a:rPr>
              <a:t>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493776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ptos"/>
              </a:rPr>
              <a:t>Built by Tanim  •  October 2026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The problem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Capture the buyer before the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2395728"/>
            <a:ext cx="438912" cy="43891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487168"/>
            <a:ext cx="438912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71800"/>
            <a:ext cx="2743200" cy="38404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11111"/>
                </a:solidFill>
                <a:latin typeface="Aptos"/>
              </a:rPr>
              <a:t>6–12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74720"/>
            <a:ext cx="2743200" cy="6858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Homebuyers research long before they contact an advisor.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36592" y="2395728"/>
            <a:ext cx="438912" cy="43891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487168"/>
            <a:ext cx="438912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971800"/>
            <a:ext cx="2743200" cy="38404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11111"/>
                </a:solidFill>
                <a:latin typeface="Aptos"/>
              </a:rPr>
              <a:t>No repeatable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474720"/>
            <a:ext cx="2743200" cy="6858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Referrals alone do not create a predictable pipeline.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14884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31352" y="2395728"/>
            <a:ext cx="438912" cy="43891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487168"/>
            <a:ext cx="438912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971800"/>
            <a:ext cx="2743200" cy="38404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11111"/>
                </a:solidFill>
                <a:latin typeface="Aptos"/>
              </a:rPr>
              <a:t>Low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3474720"/>
            <a:ext cx="2743200" cy="6858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Finaya needs to be present where buyers research.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35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92624"/>
            <a:ext cx="1037844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11111"/>
                </a:solidFill>
                <a:latin typeface="Aptos"/>
              </a:rPr>
              <a:t>The opportunity: build a system that creates, captures, qualifies and converts demand.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One growth engine. Six connected phases.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Each phase feeds the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1572768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907792"/>
            <a:ext cx="2743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10128"/>
            <a:ext cx="1389888" cy="29260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FOUNDATION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75688" y="3291840"/>
            <a:ext cx="274320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267712" y="321868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2743200"/>
            <a:ext cx="1572768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2907792"/>
            <a:ext cx="2743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310128"/>
            <a:ext cx="1389888" cy="29260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CONTENT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8496" y="3291840"/>
            <a:ext cx="274320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4160520" y="321868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8536" y="2743200"/>
            <a:ext cx="1572768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2907792"/>
            <a:ext cx="2743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3310128"/>
            <a:ext cx="1389888" cy="29260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RESOURCE HUB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61304" y="3291840"/>
            <a:ext cx="274320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6053328" y="321868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2743200"/>
            <a:ext cx="1572768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2907792"/>
            <a:ext cx="2743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3310128"/>
            <a:ext cx="1389888" cy="29260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FREE TOOLS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54112" y="3291840"/>
            <a:ext cx="274319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946136" y="321868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74152" y="2743200"/>
            <a:ext cx="1572768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907792"/>
            <a:ext cx="2743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3310128"/>
            <a:ext cx="1389888" cy="29260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EMAIL OUTREACH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46920" y="3291840"/>
            <a:ext cx="274320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9838944" y="321868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66960" y="2743200"/>
            <a:ext cx="1572768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907792"/>
            <a:ext cx="2743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310128"/>
            <a:ext cx="1389888" cy="29260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MEETINGS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34340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ptos"/>
              </a:rPr>
              <a:t>AWARENESS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24328" y="434340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ptos"/>
              </a:rPr>
              <a:t>TRUST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434340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ptos"/>
              </a:rPr>
              <a:t>CAPTURE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434340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ptos"/>
              </a:rPr>
              <a:t>INTENT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434340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ptos"/>
              </a:rPr>
              <a:t>CONVERT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434340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ptos"/>
              </a:rPr>
              <a:t>APPLICATION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Build the engine room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Technical + strategic foundations.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3035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TECHNICAL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7121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88920"/>
            <a:ext cx="4279392" cy="53035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Dedicated outreach domains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01568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19272"/>
            <a:ext cx="4279392" cy="53035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SPF / DKIM / DMARC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931920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849624"/>
            <a:ext cx="4279392" cy="53035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Mailbox warm-up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62271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379975"/>
            <a:ext cx="4279392" cy="53035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Private server + API setup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057400"/>
            <a:ext cx="53035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331720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STRATEGIC</a:t>
            </a:r>
          </a:p>
        </p:txBody>
      </p:sp>
      <p:sp>
        <p:nvSpPr>
          <p:cNvPr id="18" name="Oval 17"/>
          <p:cNvSpPr/>
          <p:nvPr/>
        </p:nvSpPr>
        <p:spPr>
          <a:xfrm>
            <a:off x="6510528" y="287121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2788920"/>
            <a:ext cx="4279392" cy="53035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CRM / agentic dashboard</a:t>
            </a:r>
          </a:p>
        </p:txBody>
      </p:sp>
      <p:sp>
        <p:nvSpPr>
          <p:cNvPr id="20" name="Oval 19"/>
          <p:cNvSpPr/>
          <p:nvPr/>
        </p:nvSpPr>
        <p:spPr>
          <a:xfrm>
            <a:off x="6510528" y="3401568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3319272"/>
            <a:ext cx="4279392" cy="53035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Ideal customer profile</a:t>
            </a:r>
          </a:p>
        </p:txBody>
      </p:sp>
      <p:sp>
        <p:nvSpPr>
          <p:cNvPr id="22" name="Oval 21"/>
          <p:cNvSpPr/>
          <p:nvPr/>
        </p:nvSpPr>
        <p:spPr>
          <a:xfrm>
            <a:off x="6510528" y="3931920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3849624"/>
            <a:ext cx="4279392" cy="53035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Competitor research</a:t>
            </a:r>
          </a:p>
        </p:txBody>
      </p:sp>
      <p:sp>
        <p:nvSpPr>
          <p:cNvPr id="24" name="Oval 23"/>
          <p:cNvSpPr/>
          <p:nvPr/>
        </p:nvSpPr>
        <p:spPr>
          <a:xfrm>
            <a:off x="6510528" y="4462271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4379975"/>
            <a:ext cx="4279392" cy="53035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Master campaign playbook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Your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One place for leads, agents, tasks and meetings.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7315200" cy="4069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73152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32004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ptos"/>
              </a:rPr>
              <a:t>FINAYA  /  COMMAND CENTER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697480"/>
            <a:ext cx="11430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926080"/>
            <a:ext cx="82296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Aptos"/>
              </a:rPr>
              <a:t>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401568"/>
            <a:ext cx="82296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ptos"/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877056"/>
            <a:ext cx="82296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ptos"/>
              </a:rPr>
              <a:t>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352544"/>
            <a:ext cx="82296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ptos"/>
              </a:rPr>
              <a:t>Meetings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828032"/>
            <a:ext cx="82296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ptos"/>
              </a:rPr>
              <a:t>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74320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907792"/>
            <a:ext cx="123444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LEADS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72968"/>
            <a:ext cx="123444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97316"/>
                </a:solidFill>
                <a:latin typeface="Aptos"/>
              </a:rPr>
              <a:t>248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274320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79" y="2907792"/>
            <a:ext cx="123444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MEETINGS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79" y="3172968"/>
            <a:ext cx="123444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97316"/>
                </a:solidFill>
                <a:latin typeface="Aptos"/>
              </a:rPr>
              <a:t>19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74320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907792"/>
            <a:ext cx="123444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ACTIVE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172968"/>
            <a:ext cx="123444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97316"/>
                </a:solidFill>
                <a:latin typeface="Aptos"/>
              </a:rPr>
              <a:t>07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388620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4069080"/>
            <a:ext cx="146304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11111"/>
                </a:solidFill>
                <a:latin typeface="Aptos"/>
              </a:rPr>
              <a:t>LEAD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4407408"/>
            <a:ext cx="2377440" cy="1188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7168" y="4370832"/>
            <a:ext cx="6858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ptos"/>
              </a:rPr>
              <a:t>New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4654296"/>
            <a:ext cx="1737360" cy="1188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87168" y="4617720"/>
            <a:ext cx="6858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ptos"/>
              </a:rPr>
              <a:t>Qualified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4901184"/>
            <a:ext cx="1051560" cy="1188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87168" y="4864608"/>
            <a:ext cx="6858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ptos"/>
              </a:rPr>
              <a:t>Booked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2103120"/>
            <a:ext cx="310896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33172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ptos"/>
              </a:rPr>
              <a:t>ALL LEADS + TASKS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633472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Aptos"/>
              </a:rPr>
              <a:t>one live 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3429000"/>
            <a:ext cx="310896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365760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ptos"/>
              </a:rPr>
              <a:t>AGENTS IN BACKGROUND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959352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Aptos"/>
              </a:rPr>
              <a:t>research • enrich • route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4754880"/>
            <a:ext cx="310896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9834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ptos"/>
              </a:rPr>
              <a:t>EMA PIPELINES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285232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Aptos"/>
              </a:rPr>
              <a:t>visible at a glance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Become the trusted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Two production paths. One consistent content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5257800" cy="3611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450592"/>
            <a:ext cx="457200" cy="45720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572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ptos"/>
              </a:rPr>
              <a:t>PATH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16352"/>
            <a:ext cx="265176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Aptos"/>
              </a:rPr>
              <a:t>REAL EMA FOOTAGE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337560"/>
            <a:ext cx="32004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73552"/>
            <a:ext cx="3749039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3794760"/>
            <a:ext cx="32004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30752"/>
            <a:ext cx="3749039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4251960"/>
            <a:ext cx="32004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87952"/>
            <a:ext cx="3749039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Edit + caption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709160"/>
            <a:ext cx="32004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645152"/>
            <a:ext cx="3749039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Publish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48840"/>
            <a:ext cx="5257800" cy="3611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2450592"/>
            <a:ext cx="457200" cy="45720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4572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423160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ptos"/>
              </a:rPr>
              <a:t>PATH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816352"/>
            <a:ext cx="265176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Aptos"/>
              </a:rPr>
              <a:t>AI AVATAR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337560"/>
            <a:ext cx="32004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273552"/>
            <a:ext cx="3749039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Build avatar + 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794760"/>
            <a:ext cx="32004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730752"/>
            <a:ext cx="3749039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Create 60-day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251960"/>
            <a:ext cx="32004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187952"/>
            <a:ext cx="3749039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Render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709160"/>
            <a:ext cx="32004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97316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645152"/>
            <a:ext cx="3749039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25312"/>
            <a:ext cx="109728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Aptos"/>
              </a:rPr>
              <a:t>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5897880"/>
            <a:ext cx="914400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ptos"/>
              </a:rPr>
              <a:t>LinkedIn   •   Facebook   •   Instagram   •   TikTok   •   YouTube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Put a real face inside the first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The pitch video humanizes the outreach.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6583680" cy="3931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384048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  <a:latin typeface="Aptos"/>
              </a:rPr>
              <a:t>From: EMA @ Finaya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2670048"/>
            <a:ext cx="594360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2971800"/>
            <a:ext cx="27432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ptos"/>
              </a:rPr>
              <a:t>A quick video for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520440"/>
            <a:ext cx="3840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42032" y="4096512"/>
            <a:ext cx="658368" cy="65836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2761488" y="4233672"/>
            <a:ext cx="228600" cy="228600"/>
          </a:xfrm>
          <a:prstGeom prst="triangle">
            <a:avLst/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074920"/>
            <a:ext cx="3291840" cy="2011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Aptos"/>
              </a:rPr>
              <a:t>60–90 SEC EMA PITCH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240280"/>
            <a:ext cx="38862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2404872"/>
            <a:ext cx="9144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Aptos"/>
              </a:rPr>
              <a:t>Personal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386584"/>
            <a:ext cx="2423160" cy="5029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11111"/>
                </a:solidFill>
                <a:latin typeface="Aptos"/>
              </a:rPr>
              <a:t>EMA speaks directly to the prospect.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474720"/>
            <a:ext cx="38862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3639312"/>
            <a:ext cx="9144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Aptos"/>
              </a:rPr>
              <a:t>Trackable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621024"/>
            <a:ext cx="2423160" cy="5029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11111"/>
                </a:solidFill>
                <a:latin typeface="Aptos"/>
              </a:rPr>
              <a:t>Watch activity informs follow-up.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709160"/>
            <a:ext cx="38862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7" y="4873752"/>
            <a:ext cx="9144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Aptos"/>
              </a:rPr>
              <a:t>Embedded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55464"/>
            <a:ext cx="2423160" cy="5029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11111"/>
                </a:solidFill>
                <a:latin typeface="Aptos"/>
              </a:rPr>
              <a:t>Thumbnail click — not an attachment.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Replace the static website with a resource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Capture buyers while they are still researching.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1488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368296"/>
            <a:ext cx="384048" cy="38404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59736"/>
            <a:ext cx="384048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0008"/>
            <a:ext cx="1234440" cy="43891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ptos"/>
              </a:rPr>
              <a:t>Payment Calculator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148840"/>
            <a:ext cx="21488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73552" y="2368296"/>
            <a:ext cx="384048" cy="38404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2459736"/>
            <a:ext cx="384048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350008"/>
            <a:ext cx="1234440" cy="43891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ptos"/>
              </a:rPr>
              <a:t>Affordability Quiz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148840"/>
            <a:ext cx="21488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96712" y="2368296"/>
            <a:ext cx="384048" cy="38404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459736"/>
            <a:ext cx="384048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50008"/>
            <a:ext cx="1234440" cy="43891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ptos"/>
              </a:rPr>
              <a:t>Rent vs. Buy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21488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" y="3602736"/>
            <a:ext cx="384048" cy="38404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694176"/>
            <a:ext cx="384048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84448"/>
            <a:ext cx="1234440" cy="43891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ptos"/>
              </a:rPr>
              <a:t>Buyer Readiness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3383280"/>
            <a:ext cx="21488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73552" y="3602736"/>
            <a:ext cx="384048" cy="38404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3694176"/>
            <a:ext cx="384048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584448"/>
            <a:ext cx="1234440" cy="43891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ptos"/>
              </a:rPr>
              <a:t>Refinance Estimator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3383280"/>
            <a:ext cx="21488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96712" y="3602736"/>
            <a:ext cx="384048" cy="38404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6712" y="3694176"/>
            <a:ext cx="384048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584448"/>
            <a:ext cx="1234440" cy="43891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ptos"/>
              </a:rPr>
              <a:t>Guides + Articles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148840"/>
            <a:ext cx="109728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  <a:latin typeface="Aptos"/>
              </a:rPr>
              <a:t>CAPTURE</a:t>
            </a:r>
          </a:p>
        </p:txBody>
      </p:sp>
      <p:sp>
        <p:nvSpPr>
          <p:cNvPr id="31" name="Oval 30"/>
          <p:cNvSpPr/>
          <p:nvPr/>
        </p:nvSpPr>
        <p:spPr>
          <a:xfrm>
            <a:off x="8183879" y="2606040"/>
            <a:ext cx="310896" cy="310896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2688336"/>
            <a:ext cx="310896" cy="10972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11111"/>
                </a:solidFill>
                <a:latin typeface="Apto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596896"/>
            <a:ext cx="2468880" cy="25603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Visitor uses tool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39327" y="2916936"/>
            <a:ext cx="0" cy="384048"/>
          </a:xfrm>
          <a:prstGeom prst="line">
            <a:avLst/>
          </a:prstGeom>
          <a:ln w="1778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183879" y="3319272"/>
            <a:ext cx="310896" cy="310896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3401568"/>
            <a:ext cx="310896" cy="10972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11111"/>
                </a:solidFill>
                <a:latin typeface="Aptos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310128"/>
            <a:ext cx="2468880" cy="25603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Email unlocks result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39327" y="3630168"/>
            <a:ext cx="0" cy="384047"/>
          </a:xfrm>
          <a:prstGeom prst="line">
            <a:avLst/>
          </a:prstGeom>
          <a:ln w="1778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183879" y="4032504"/>
            <a:ext cx="310896" cy="310896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4114800"/>
            <a:ext cx="310896" cy="10972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11111"/>
                </a:solidFill>
                <a:latin typeface="Apto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023360"/>
            <a:ext cx="2468880" cy="25603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Intent is tagged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39327" y="4343400"/>
            <a:ext cx="0" cy="384048"/>
          </a:xfrm>
          <a:prstGeom prst="line">
            <a:avLst/>
          </a:prstGeom>
          <a:ln w="1778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183879" y="4745736"/>
            <a:ext cx="310896" cy="310896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79" y="4828031"/>
            <a:ext cx="310896" cy="10972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11111"/>
                </a:solidFill>
                <a:latin typeface="Apto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736592"/>
            <a:ext cx="2468880" cy="25603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Lead enters CRM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5440680"/>
            <a:ext cx="34747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5559552"/>
            <a:ext cx="32004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Intent data → personalized nurture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The site can qualify + book while you sleep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Chat → qualification → calendar →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4663440" cy="37947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109728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AI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880360"/>
            <a:ext cx="29260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008376"/>
            <a:ext cx="2706624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ptos"/>
              </a:rPr>
              <a:t>Are you a first-time buyer?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520440"/>
            <a:ext cx="2560320" cy="45720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8528" y="3648456"/>
            <a:ext cx="2340863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ptos"/>
              </a:rPr>
              <a:t>Yes — looking in Dallas.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160520"/>
            <a:ext cx="29260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4288536"/>
            <a:ext cx="2706624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ptos"/>
              </a:rPr>
              <a:t>What’s your timeline?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800600"/>
            <a:ext cx="2560320" cy="45720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4928616"/>
            <a:ext cx="2340863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ptos"/>
              </a:rPr>
              <a:t>3–6 months.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2057400"/>
            <a:ext cx="3200400" cy="37947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331720"/>
            <a:ext cx="18288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EMA CALENDAR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99008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9:00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22592" y="288036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299008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9:02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27264" y="288036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7264" y="299008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9:04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58444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10:00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22592" y="347472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358444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10:02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27264" y="347472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7264" y="358444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10:04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17880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11:00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22592" y="406908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417880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11:02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27264" y="406908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264" y="417880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11:04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66344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77316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12:00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22592" y="466344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2592" y="477316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12:02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27264" y="4663440"/>
            <a:ext cx="621792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27264" y="4773168"/>
            <a:ext cx="62179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12:04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2331720"/>
            <a:ext cx="205740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2542032"/>
            <a:ext cx="16002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11111"/>
                </a:solidFill>
                <a:latin typeface="Aptos"/>
              </a:rPr>
              <a:t>QUALIFIED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2852928"/>
            <a:ext cx="16002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11111"/>
                </a:solidFill>
                <a:latin typeface="Aptos"/>
              </a:rPr>
              <a:t>context captured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4040" y="3703320"/>
            <a:ext cx="205740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3913632"/>
            <a:ext cx="16002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11111"/>
                </a:solidFill>
                <a:latin typeface="Aptos"/>
              </a:rPr>
              <a:t>BOOKED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4224528"/>
            <a:ext cx="16002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11111"/>
                </a:solidFill>
                <a:latin typeface="Aptos"/>
              </a:rPr>
              <a:t>confirmation sent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64040" y="5074920"/>
            <a:ext cx="2057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0" y="5266944"/>
            <a:ext cx="178308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Aptos"/>
              </a:rPr>
              <a:t>EMA gets the context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40680" y="3931920"/>
            <a:ext cx="365760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5724144" y="385876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098280" y="3931920"/>
            <a:ext cx="274320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9290304" y="385876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Turn free tools into a LinkedIn-to-lead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Value first. Intent data second. Outreach third.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224028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04872"/>
            <a:ext cx="530352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Aptos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1737360" cy="5943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111111"/>
                </a:solidFill>
                <a:latin typeface="Aptos"/>
              </a:rPr>
              <a:t>Share a useful free tool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91640" y="2514600"/>
            <a:ext cx="960120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69464" y="244144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9000" y="224028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404872"/>
            <a:ext cx="530352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06324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Aptos"/>
              </a:rPr>
              <a:t>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456432"/>
            <a:ext cx="1737360" cy="5943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111111"/>
                </a:solidFill>
                <a:latin typeface="Aptos"/>
              </a:rPr>
              <a:t>CTA drives traffic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2514600"/>
            <a:ext cx="960121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855464" y="244144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15000" y="224028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404872"/>
            <a:ext cx="530352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06324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Aptos"/>
              </a:rPr>
              <a:t>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456432"/>
            <a:ext cx="1737360" cy="5943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111111"/>
                </a:solidFill>
                <a:latin typeface="Aptos"/>
              </a:rPr>
              <a:t>Prospect enters data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63640" y="2514600"/>
            <a:ext cx="960120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7141464" y="244144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1000" y="224028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2404872"/>
            <a:ext cx="530352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06324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Aptos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456432"/>
            <a:ext cx="1737360" cy="5943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111111"/>
                </a:solidFill>
                <a:latin typeface="Aptos"/>
              </a:rPr>
              <a:t>Email + intent collected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49640" y="2514600"/>
            <a:ext cx="960120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9427464" y="244144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87000" y="224028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404872"/>
            <a:ext cx="530352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06324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Aptos"/>
              </a:rPr>
              <a:t>PERSONALIZE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456432"/>
            <a:ext cx="1737360" cy="5943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111111"/>
                </a:solidFill>
                <a:latin typeface="Aptos"/>
              </a:rPr>
              <a:t>Outreach uses the context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709160"/>
            <a:ext cx="987552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956048"/>
            <a:ext cx="94183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97316"/>
                </a:solidFill>
                <a:latin typeface="Aptos"/>
              </a:rPr>
              <a:t>Before the first email:  name  •  city  •  budget  •  timeline  •  loan interest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The email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Dedicated infrastructure + personalized sequences.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47548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9144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SETUP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7121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788920"/>
            <a:ext cx="3730752" cy="5486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Dedicated sending domains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1985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37560"/>
            <a:ext cx="3730752" cy="5486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SPF / DKIM / DMARC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96849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886200"/>
            <a:ext cx="3730752" cy="5486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Mailbox warm-up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1713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434840"/>
            <a:ext cx="3730752" cy="5486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Private sending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057400"/>
            <a:ext cx="585216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2331720"/>
            <a:ext cx="24688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TANIM’S PRIVATE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816352"/>
            <a:ext cx="237744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ptos"/>
              </a:rPr>
              <a:t>Custom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310128"/>
            <a:ext cx="3200400" cy="10972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Marketing email structure
+ verified headers
+ private sending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834640"/>
            <a:ext cx="1828800" cy="5029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F97316"/>
                </a:solidFill>
                <a:latin typeface="Aptos"/>
              </a:rPr>
              <a:t>~80%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310128"/>
            <a:ext cx="1828800" cy="34747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11111"/>
                </a:solidFill>
                <a:latin typeface="Aptos"/>
              </a:rPr>
              <a:t>inbox rate claimed in the source blueprint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480060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4937760"/>
            <a:ext cx="1965960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Gmail • Outlook • HubSpot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Find the right prospects. Then sequence.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Personalization is built into the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88620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PROSPECT SOURCES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98648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816352"/>
            <a:ext cx="2816351" cy="56692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Facebook communities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6557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83280"/>
            <a:ext cx="2816351" cy="56692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LinkedIn intent signals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32504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950208"/>
            <a:ext cx="2816351" cy="56692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Reddit discussions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99431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517136"/>
            <a:ext cx="2816351" cy="56692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Tool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057400"/>
            <a:ext cx="662940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331720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Aptos"/>
              </a:rPr>
              <a:t>5-TOUCH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788920"/>
            <a:ext cx="868680" cy="21945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97316"/>
                </a:solidFill>
                <a:latin typeface="Aptos"/>
              </a:rPr>
              <a:t>DAY 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907791"/>
            <a:ext cx="27432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2240" y="2770632"/>
            <a:ext cx="43891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Intro + EMA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319272"/>
            <a:ext cx="868680" cy="21945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97316"/>
                </a:solidFill>
                <a:latin typeface="Aptos"/>
              </a:rPr>
              <a:t>DAY 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3438144"/>
            <a:ext cx="27432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92240" y="3300984"/>
            <a:ext cx="43891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Relevant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849624"/>
            <a:ext cx="868680" cy="21945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97316"/>
                </a:solidFill>
                <a:latin typeface="Aptos"/>
              </a:rPr>
              <a:t>DAY 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3968496"/>
            <a:ext cx="27432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92240" y="3831336"/>
            <a:ext cx="43891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Social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4379975"/>
            <a:ext cx="868680" cy="21945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97316"/>
                </a:solidFill>
                <a:latin typeface="Aptos"/>
              </a:rPr>
              <a:t>DAY 14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4498847"/>
            <a:ext cx="27432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92240" y="4361688"/>
            <a:ext cx="43891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Direct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4910327"/>
            <a:ext cx="868680" cy="21945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97316"/>
                </a:solidFill>
                <a:latin typeface="Aptos"/>
              </a:rPr>
              <a:t>DAY 21+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5029199"/>
            <a:ext cx="27432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92240" y="4892040"/>
            <a:ext cx="43891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Re-engage / break 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93792" y="5440680"/>
            <a:ext cx="5806440" cy="43891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21808" y="5568696"/>
            <a:ext cx="553212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Aptos"/>
              </a:rPr>
              <a:t>CTA: call the EMA  OR  complete the mortgage application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PHASE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A booked meeting is only valuable if they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Protect the handoff and automate the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3375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23160"/>
            <a:ext cx="438912" cy="43891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42032"/>
            <a:ext cx="43891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23160"/>
            <a:ext cx="2057400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ptos"/>
              </a:rPr>
              <a:t>CONTEXT HANDOFF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332841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7" y="3246120"/>
            <a:ext cx="2496312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Budget + timeline</a:t>
            </a:r>
          </a:p>
        </p:txBody>
      </p:sp>
      <p:sp>
        <p:nvSpPr>
          <p:cNvPr id="12" name="Oval 11"/>
          <p:cNvSpPr/>
          <p:nvPr/>
        </p:nvSpPr>
        <p:spPr>
          <a:xfrm>
            <a:off x="960119" y="396849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7" y="3886200"/>
            <a:ext cx="2496312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Tool / content used</a:t>
            </a:r>
          </a:p>
        </p:txBody>
      </p:sp>
      <p:sp>
        <p:nvSpPr>
          <p:cNvPr id="14" name="Oval 13"/>
          <p:cNvSpPr/>
          <p:nvPr/>
        </p:nvSpPr>
        <p:spPr>
          <a:xfrm>
            <a:off x="960119" y="460857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7" y="4526279"/>
            <a:ext cx="2496312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Reply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2148840"/>
            <a:ext cx="33375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18304" y="2423160"/>
            <a:ext cx="438912" cy="43891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8304" y="2542032"/>
            <a:ext cx="43891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423160"/>
            <a:ext cx="2057400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ptos"/>
              </a:rPr>
              <a:t>CONFIRMATION</a:t>
            </a:r>
          </a:p>
        </p:txBody>
      </p:sp>
      <p:sp>
        <p:nvSpPr>
          <p:cNvPr id="20" name="Oval 19"/>
          <p:cNvSpPr/>
          <p:nvPr/>
        </p:nvSpPr>
        <p:spPr>
          <a:xfrm>
            <a:off x="4782312" y="332841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79" y="3246120"/>
            <a:ext cx="2496312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Instant confirmation</a:t>
            </a:r>
          </a:p>
        </p:txBody>
      </p:sp>
      <p:sp>
        <p:nvSpPr>
          <p:cNvPr id="22" name="Oval 21"/>
          <p:cNvSpPr/>
          <p:nvPr/>
        </p:nvSpPr>
        <p:spPr>
          <a:xfrm>
            <a:off x="4782312" y="396849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79" y="3886200"/>
            <a:ext cx="2496312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24-hour reminder</a:t>
            </a:r>
          </a:p>
        </p:txBody>
      </p:sp>
      <p:sp>
        <p:nvSpPr>
          <p:cNvPr id="24" name="Oval 23"/>
          <p:cNvSpPr/>
          <p:nvPr/>
        </p:nvSpPr>
        <p:spPr>
          <a:xfrm>
            <a:off x="4782312" y="460857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4526279"/>
            <a:ext cx="2496312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1-hour reminder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3" y="2148840"/>
            <a:ext cx="33375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40495" y="2423160"/>
            <a:ext cx="438912" cy="43891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0495" y="2542032"/>
            <a:ext cx="438912" cy="1371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423160"/>
            <a:ext cx="2057400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ptos"/>
              </a:rPr>
              <a:t>NO-SHOW RECOVERY</a:t>
            </a:r>
          </a:p>
        </p:txBody>
      </p:sp>
      <p:sp>
        <p:nvSpPr>
          <p:cNvPr id="30" name="Oval 29"/>
          <p:cNvSpPr/>
          <p:nvPr/>
        </p:nvSpPr>
        <p:spPr>
          <a:xfrm>
            <a:off x="8604503" y="332841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672" y="3246120"/>
            <a:ext cx="2496312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Follow up within 2 hours</a:t>
            </a:r>
          </a:p>
        </p:txBody>
      </p:sp>
      <p:sp>
        <p:nvSpPr>
          <p:cNvPr id="32" name="Oval 31"/>
          <p:cNvSpPr/>
          <p:nvPr/>
        </p:nvSpPr>
        <p:spPr>
          <a:xfrm>
            <a:off x="8604503" y="396849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05672" y="3886200"/>
            <a:ext cx="2496312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Second attempt at 48 hours</a:t>
            </a:r>
          </a:p>
        </p:txBody>
      </p:sp>
      <p:sp>
        <p:nvSpPr>
          <p:cNvPr id="34" name="Oval 33"/>
          <p:cNvSpPr/>
          <p:nvPr/>
        </p:nvSpPr>
        <p:spPr>
          <a:xfrm>
            <a:off x="8604503" y="460857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05672" y="4526279"/>
            <a:ext cx="2496312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11111"/>
                </a:solidFill>
                <a:latin typeface="Aptos"/>
              </a:rPr>
              <a:t>Return to nurture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THE FULL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From awareness to mortgage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The complete system in one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47" y="2011680"/>
            <a:ext cx="105156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639" y="2121408"/>
            <a:ext cx="13716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  <a:latin typeface="Aptos"/>
              </a:rPr>
              <a:t>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9687" y="2093976"/>
            <a:ext cx="8641080" cy="2011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ptos"/>
              </a:rPr>
              <a:t>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0947" y="2560320"/>
            <a:ext cx="98298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5539" y="2670048"/>
            <a:ext cx="13716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  <a:latin typeface="Aptos"/>
              </a:rPr>
              <a:t>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2587" y="2642616"/>
            <a:ext cx="7955279" cy="2011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ptos"/>
              </a:rPr>
              <a:t>Resource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23847" y="3108960"/>
            <a:ext cx="91440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88439" y="3218688"/>
            <a:ext cx="13716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  <a:latin typeface="Aptos"/>
              </a:rPr>
              <a:t>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5487" y="3191256"/>
            <a:ext cx="7269480" cy="2011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ptos"/>
              </a:rPr>
              <a:t>Email + intent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66747" y="3657600"/>
            <a:ext cx="84582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1339" y="3767328"/>
            <a:ext cx="13716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  <a:latin typeface="Aptos"/>
              </a:rPr>
              <a:t>OUTREACH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387" y="3739896"/>
            <a:ext cx="6583680" cy="2011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ptos"/>
              </a:rPr>
              <a:t>Personalized 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09647" y="4206240"/>
            <a:ext cx="77724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4239" y="4315968"/>
            <a:ext cx="13716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  <a:latin typeface="Aptos"/>
              </a:rP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1287" y="4288536"/>
            <a:ext cx="5897880" cy="2011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ptos"/>
              </a:rPr>
              <a:t>Confirmed meeting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52547" y="4754880"/>
            <a:ext cx="70866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7139" y="4864608"/>
            <a:ext cx="13716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  <a:latin typeface="Aptos"/>
              </a:rPr>
              <a:t>MEETING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4187" y="4837176"/>
            <a:ext cx="5212080" cy="2011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ptos"/>
              </a:rPr>
              <a:t>EMA + prospect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95447" y="5303520"/>
            <a:ext cx="64008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0039" y="5413248"/>
            <a:ext cx="137160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7087" y="5385816"/>
            <a:ext cx="4526280" cy="2011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Aptos"/>
              </a:rPr>
              <a:t>Application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The division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The system is done-for-you; EMAs focus on conversations.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57800" cy="3886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  <a:latin typeface="Aptos"/>
              </a:rPr>
              <a:t>TANIM’S TEAM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6265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880360"/>
            <a:ext cx="4187952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Technical setup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1985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37560"/>
            <a:ext cx="4187952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Prospect research + sourcing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7705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794760"/>
            <a:ext cx="4187952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Email writing + personalization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3425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251960"/>
            <a:ext cx="4187952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Campaign monitoring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79145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709160"/>
            <a:ext cx="4187952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Content + scripting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24865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166360"/>
            <a:ext cx="4187952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Resource hub +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11680"/>
            <a:ext cx="5257800" cy="3886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331720"/>
            <a:ext cx="109728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ptos"/>
              </a:rPr>
              <a:t>EMA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296265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2880360"/>
            <a:ext cx="4187952" cy="5943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Record short videos (optional)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3557015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3474720"/>
            <a:ext cx="4187952" cy="5943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Show up to booked meetings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415137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4069080"/>
            <a:ext cx="4187952" cy="5943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Reply to warm leads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4745736"/>
            <a:ext cx="100584" cy="100584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9128" y="4663440"/>
            <a:ext cx="4187952" cy="59436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Aptos"/>
              </a:rPr>
              <a:t>Close the application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5577840"/>
            <a:ext cx="66751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7792" y="5705856"/>
            <a:ext cx="635508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Aptos"/>
              </a:rPr>
              <a:t>OUR JOB: GET THE RIGHT PERSON IN FRONT OF THE RIGHT EMA.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Build while the infrastructure warms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The warm-up period runs in parallel with everything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33172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530352" cy="12801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W1–2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16152" y="2596896"/>
            <a:ext cx="868680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4632" y="3200400"/>
            <a:ext cx="960120" cy="6583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Infrastructure
+ warm-up</a:t>
            </a:r>
          </a:p>
        </p:txBody>
      </p:sp>
      <p:sp>
        <p:nvSpPr>
          <p:cNvPr id="10" name="Oval 9"/>
          <p:cNvSpPr/>
          <p:nvPr/>
        </p:nvSpPr>
        <p:spPr>
          <a:xfrm>
            <a:off x="2084832" y="233172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2514600"/>
            <a:ext cx="530352" cy="12801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W2–3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15184" y="2596896"/>
            <a:ext cx="868680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83664" y="3200400"/>
            <a:ext cx="960120" cy="6583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Social / Google
cleanup</a:t>
            </a:r>
          </a:p>
        </p:txBody>
      </p:sp>
      <p:sp>
        <p:nvSpPr>
          <p:cNvPr id="14" name="Oval 13"/>
          <p:cNvSpPr/>
          <p:nvPr/>
        </p:nvSpPr>
        <p:spPr>
          <a:xfrm>
            <a:off x="3483864" y="233172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514600"/>
            <a:ext cx="530352" cy="12801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W2–4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14215" y="2596896"/>
            <a:ext cx="868681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82696" y="3200400"/>
            <a:ext cx="960120" cy="6583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Content
scheduled</a:t>
            </a:r>
          </a:p>
        </p:txBody>
      </p:sp>
      <p:sp>
        <p:nvSpPr>
          <p:cNvPr id="18" name="Oval 17"/>
          <p:cNvSpPr/>
          <p:nvPr/>
        </p:nvSpPr>
        <p:spPr>
          <a:xfrm>
            <a:off x="4882896" y="233172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514600"/>
            <a:ext cx="530352" cy="12801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W3–5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13248" y="2596896"/>
            <a:ext cx="868680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81728" y="3200400"/>
            <a:ext cx="960120" cy="6583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Resource hub
launch</a:t>
            </a:r>
          </a:p>
        </p:txBody>
      </p:sp>
      <p:sp>
        <p:nvSpPr>
          <p:cNvPr id="22" name="Oval 21"/>
          <p:cNvSpPr/>
          <p:nvPr/>
        </p:nvSpPr>
        <p:spPr>
          <a:xfrm>
            <a:off x="6281928" y="233172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2514600"/>
            <a:ext cx="530352" cy="12801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W4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12280" y="2596896"/>
            <a:ext cx="868680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80760" y="3200400"/>
            <a:ext cx="960120" cy="6583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Outreach
ready</a:t>
            </a:r>
          </a:p>
        </p:txBody>
      </p:sp>
      <p:sp>
        <p:nvSpPr>
          <p:cNvPr id="26" name="Oval 25"/>
          <p:cNvSpPr/>
          <p:nvPr/>
        </p:nvSpPr>
        <p:spPr>
          <a:xfrm>
            <a:off x="7680960" y="233172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2514600"/>
            <a:ext cx="530352" cy="12801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W5+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11312" y="2596896"/>
            <a:ext cx="868680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79792" y="3200400"/>
            <a:ext cx="960120" cy="6583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Campaigns
live</a:t>
            </a:r>
          </a:p>
        </p:txBody>
      </p:sp>
      <p:sp>
        <p:nvSpPr>
          <p:cNvPr id="30" name="Oval 29"/>
          <p:cNvSpPr/>
          <p:nvPr/>
        </p:nvSpPr>
        <p:spPr>
          <a:xfrm>
            <a:off x="9079992" y="233172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2" y="2514600"/>
            <a:ext cx="530352" cy="12801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W6+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10344" y="2596896"/>
            <a:ext cx="868680" cy="0"/>
          </a:xfrm>
          <a:prstGeom prst="line">
            <a:avLst/>
          </a:prstGeom>
          <a:ln w="1651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878824" y="3200400"/>
            <a:ext cx="960120" cy="6583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Meetings
booked</a:t>
            </a:r>
          </a:p>
        </p:txBody>
      </p:sp>
      <p:sp>
        <p:nvSpPr>
          <p:cNvPr id="34" name="Oval 33"/>
          <p:cNvSpPr/>
          <p:nvPr/>
        </p:nvSpPr>
        <p:spPr>
          <a:xfrm>
            <a:off x="10479024" y="2331720"/>
            <a:ext cx="530352" cy="53035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79024" y="2514600"/>
            <a:ext cx="530352" cy="128016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M2+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7856" y="3200400"/>
            <a:ext cx="960120" cy="658368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ptos"/>
              </a:rPr>
              <a:t>Optimize +
report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4800600"/>
            <a:ext cx="1019556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010912"/>
            <a:ext cx="98298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111111"/>
                </a:solidFill>
                <a:latin typeface="Aptos"/>
              </a:rPr>
              <a:t>By Month 2+:  a fully operational system with monthly optimization + reporting.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A simple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The source blueprint frames this as a pipeline investment.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029200" cy="3200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28600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Aptos"/>
              </a:rPr>
              <a:t>CURRENT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3931920" cy="5486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ptos"/>
              </a:rPr>
              <a:t>$750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3931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Aptos"/>
              </a:rPr>
              <a:t>+ $50 per deal from email campaigns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3931920" cy="5486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Includes setup, content, outreach + reporting.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148840"/>
            <a:ext cx="5349240" cy="3200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468880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Aptos"/>
              </a:rPr>
              <a:t>SYSTEM EFFECT</a:t>
            </a:r>
          </a:p>
        </p:txBody>
      </p:sp>
      <p:sp>
        <p:nvSpPr>
          <p:cNvPr id="13" name="Oval 12"/>
          <p:cNvSpPr/>
          <p:nvPr/>
        </p:nvSpPr>
        <p:spPr>
          <a:xfrm>
            <a:off x="6446520" y="31546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447288"/>
            <a:ext cx="96012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AUDIENCE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51192" y="3566160"/>
            <a:ext cx="338328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507224" y="349300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26679" y="370332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7" y="3995928"/>
            <a:ext cx="96012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LEADS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31352" y="4114800"/>
            <a:ext cx="338328" cy="0"/>
          </a:xfrm>
          <a:prstGeom prst="line">
            <a:avLst/>
          </a:prstGeom>
          <a:ln w="2794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8787384" y="4041648"/>
            <a:ext cx="164592" cy="164592"/>
          </a:xfrm>
          <a:prstGeom prst="triangle">
            <a:avLst/>
          </a:prstGeom>
          <a:solidFill>
            <a:srgbClr val="F9731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06840" y="42519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4544568"/>
            <a:ext cx="960120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111111"/>
                </a:solidFill>
                <a:latin typeface="Aptos"/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1947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111111"/>
                </a:solidFill>
                <a:latin typeface="Aptos"/>
              </a:rPr>
              <a:t>Content grows  •  list grows  •  pipeline grows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7315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Aptos"/>
              </a:rPr>
              <a:t>Three moves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332720" cy="4114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Aptos"/>
              </a:rPr>
              <a:t>Keep the launch sequence simple.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33756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468880"/>
            <a:ext cx="457200" cy="45720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96896"/>
            <a:ext cx="457200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057400" cy="5029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ptos"/>
              </a:rPr>
              <a:t>NICK’S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337560"/>
            <a:ext cx="2606040" cy="1417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EMA roster
Compliance checklist + NMLS
Brand assets +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333756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2468880"/>
            <a:ext cx="457200" cy="45720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596896"/>
            <a:ext cx="457200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441448"/>
            <a:ext cx="2057400" cy="5029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ptos"/>
              </a:rPr>
              <a:t>TANIM’S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3337560"/>
            <a:ext cx="2606040" cy="1417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Deliverability demo
Marketing funnel proposal
Social / Google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148840"/>
            <a:ext cx="333756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9640" y="2468880"/>
            <a:ext cx="457200" cy="45720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596896"/>
            <a:ext cx="457200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1111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41448"/>
            <a:ext cx="2057400" cy="5029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ptos"/>
              </a:rPr>
              <a:t>MONDAY CHECK-IN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3337560"/>
            <a:ext cx="2606040" cy="141732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ptos"/>
              </a:rPr>
              <a:t>Review progress
Walk through deck
Discuss advance payment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5715000"/>
            <a:ext cx="7909560" cy="41148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5824728"/>
            <a:ext cx="7543800" cy="146304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Aptos"/>
              </a:rPr>
              <a:t>FASTER INPUTS  →  FASTER LAUNCH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2011680" cy="4572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  <a:latin typeface="Aptos"/>
              </a:rPr>
              <a:t>FINAYA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7680960" cy="6858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11111"/>
                </a:solidFill>
                <a:latin typeface="Aptos"/>
              </a:rPr>
              <a:t>Let’s build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7955279" cy="6400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  <a:latin typeface="Aptos"/>
              </a:rPr>
              <a:t>that fills your EMAs’ calendars.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234440"/>
            <a:ext cx="155448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65592" y="1389888"/>
            <a:ext cx="1408176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057400"/>
            <a:ext cx="155448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00032" y="2212848"/>
            <a:ext cx="1408176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3246120"/>
            <a:ext cx="155448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20072" y="3401568"/>
            <a:ext cx="1408176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4343400"/>
            <a:ext cx="155448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4498848"/>
            <a:ext cx="1408176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MEETINGS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246120"/>
            <a:ext cx="155448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3401568"/>
            <a:ext cx="1408176" cy="164592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11111"/>
                </a:solidFill>
                <a:latin typeface="Aptos"/>
              </a:rP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5303520" cy="32004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ptos"/>
              </a:rPr>
              <a:t>Questions?  Let’s talk Monday.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5303520" cy="22860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  <a:latin typeface="Aptos"/>
              </a:rPr>
              <a:t>Tanim  •  nasrullahtanim@gmail.com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51052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  <a:latin typeface="Aptos"/>
              </a:rPr>
              <a:t>FINAYA HOME LOANS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6510528"/>
            <a:ext cx="1810512" cy="182880"/>
          </a:xfrm>
          <a:prstGeom prst="rect">
            <a:avLst/>
          </a:prstGeom>
          <a:noFill/>
          <a:ln>
            <a:solidFill/>
          </a:ln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97316"/>
                </a:solidFill>
                <a:latin typeface="Aptos"/>
              </a:rPr>
              <a:t>GROWTH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